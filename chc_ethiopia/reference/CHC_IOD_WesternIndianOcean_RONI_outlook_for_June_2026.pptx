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1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B340-C3A3-4860-960C-ACC83131D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94F50-7A73-4DF7-887C-0BF2C9102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29BB6-8E25-4B52-B40A-BE2389E6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1A2EE-E0DF-4A68-B897-0564485A7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277F6-25AB-4680-BC49-18197386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0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9325C-030A-4C51-8475-727E172F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9D114-A1CC-4B92-9DFA-E74259765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E440D-D1C2-441B-989D-D59D4ECB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E2ABA-2EC0-46CC-8A4A-BDFD419D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A772E-A06E-42D6-BDCE-E209DF70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6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A1ED-DFBE-4078-A234-64C96C58F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D11A2-2BED-4F23-BB5E-393EE6AF7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F4663-001C-4093-982A-2BDCA2274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1FE49-329C-43BA-9CA4-4E06E277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DD3FC-B1A0-4458-8043-E87CDD65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17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0FA1-FB2E-4CB6-BF25-0822C673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0BC4A-C2FD-4FE8-8EC6-F3D81582C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A4A55-8270-4398-A0A7-E3C2C2BC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4C312-7200-4D25-A312-FE87F9628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9D9D2-5108-48EC-B016-D9F7524D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8A8FF-BB6F-4777-8A02-21856E50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7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EBC6-3232-496F-AEC0-FEBD8C043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B9375-9587-4356-9814-DE35A68C6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053EF-1C2E-4135-883F-D5E3F0EF1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E85EF-2BAE-4EC9-8C37-9E8F33019C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97B61-D383-40F5-90AA-B5FC16683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1DDA9A-9C93-4B25-BAFB-4217C438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519BB-06FC-45C4-802D-E4255E760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B45EB-DBF5-4671-809A-EB6DB945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4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CEF60-D218-4CAA-910C-667817D8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7557D-291A-4D88-AC4D-C4255B964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E3E52-0F79-4053-B793-B6B084E1D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334DE-95FB-40AC-907C-3110E4958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9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558CD-775A-49F3-81DD-316492DD0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E7FDE-F121-45F5-9D9E-B2FB75BD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DA631-3D80-49DC-8159-20EA0361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46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F0E7-5610-4CDD-A24D-AA985B0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C0B0F-EBA6-462D-B67D-362C54888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95173-804A-4B3F-B134-942934CB1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D670C-9890-4CC2-A60E-9B7C00C5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63467-8A0A-42E2-AD87-A6FD45591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72A8E-D3FC-4C06-8F7E-35B2E580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80BD-1E62-40AD-923B-89C47B6F2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74B3B-9796-4A05-9D23-3F683D969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D2B16-821E-4445-81F6-406BAB4F0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191FC-0D4A-42CC-9B0A-14FAFDAA2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10977-7F48-412F-9747-E9F9C2691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041B8-4644-4003-B95D-909AF25F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8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7E65-6A07-41D2-98CB-F9C117F22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95646-F194-4812-ACEE-DCD95D1B4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0AEED-3224-403A-9605-E26C7C76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E1FCC-7219-4A03-A79D-13588EF3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2F810-D455-41B7-BEA2-517B449D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26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B093D-2014-4C57-986C-4163898CC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FEEFC-10B8-471E-AC78-4694EA203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79305-CFC4-4BE3-9D7C-1AD4EADB1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0296C-86E5-4736-8E8E-0C299E4C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BAC04-993F-4EBC-8632-E6C71AF9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3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86F0A-20B1-48BB-9C32-61091A4DD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F5D77-DFFD-4C97-8581-CEB6E41DF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60866-9795-4166-A640-1233EBCAC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6B631-2C06-4563-9A8D-E5CB9ACE781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C04BD-F01D-41F2-BABE-1B11ED868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2C82E-010C-48C3-913B-8A5206B2E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ADE58-0D78-4029-BBE6-876D6911F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9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0051-874D-4850-B056-38E577C36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0934" y="175736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Indian Ocean Dipole, Relative Oceanic Nino Index and Western Indian Ocean Outlook for OND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AD1F0-4907-4176-869B-7C0DCC274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7439"/>
            <a:ext cx="9144000" cy="1655762"/>
          </a:xfrm>
        </p:spPr>
        <p:txBody>
          <a:bodyPr/>
          <a:lstStyle/>
          <a:p>
            <a:r>
              <a:rPr lang="en-US" dirty="0"/>
              <a:t>Laura Harrison and Chris Funk</a:t>
            </a:r>
          </a:p>
          <a:p>
            <a:endParaRPr lang="en-US" dirty="0"/>
          </a:p>
          <a:p>
            <a:r>
              <a:rPr lang="en-US" dirty="0"/>
              <a:t>June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18F81-0ECE-4019-8C76-4C141BCB8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584" y="121092"/>
            <a:ext cx="1885627" cy="7778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41660B-07F1-471A-8836-B30FFED2D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888" y="243172"/>
            <a:ext cx="3105115" cy="5122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FA286D-6C17-424D-B0B3-0BEF2244F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6" y="121092"/>
            <a:ext cx="1945200" cy="80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8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79CF9-B7A0-471E-A429-1D87510F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450"/>
            <a:ext cx="12192000" cy="46461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October November December IOD and RONI Forecast Scatterplot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C86CC-3FD3-46DD-BD06-6D04A06AB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1" y="575724"/>
            <a:ext cx="6299207" cy="62992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70503C-7F86-449D-8EE3-D9C8809DD1AF}"/>
              </a:ext>
            </a:extLst>
          </p:cNvPr>
          <p:cNvSpPr txBox="1"/>
          <p:nvPr/>
        </p:nvSpPr>
        <p:spPr>
          <a:xfrm>
            <a:off x="6079082" y="979433"/>
            <a:ext cx="6096000" cy="583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x and y axes show 1981-2026 OND RONI and IOD forecasts °C. </a:t>
            </a:r>
          </a:p>
          <a:p>
            <a:endParaRPr lang="en-US" sz="2000" dirty="0"/>
          </a:p>
          <a:p>
            <a:r>
              <a:rPr lang="en-US" sz="2000" dirty="0"/>
              <a:t>The current forecast (large red triangle) can be compared to past forecasts for RONI and the IOD index. </a:t>
            </a:r>
          </a:p>
          <a:p>
            <a:endParaRPr lang="en-US" sz="2000" dirty="0"/>
          </a:p>
          <a:p>
            <a:r>
              <a:rPr lang="en-US" sz="2000" dirty="0"/>
              <a:t>An extreme outlook similar to 1997 and 2023 is anticipated. Little triangles around the OND 2026 forecast triangle give us a sense of the zone within which we are pretty sure the forecast values will end up falling within, based on the range of errors from historical forecasts (1991-2020). These small triangle indicate the 80</a:t>
            </a:r>
            <a:r>
              <a:rPr lang="en-US" sz="2000" baseline="30000" dirty="0"/>
              <a:t>th</a:t>
            </a:r>
            <a:r>
              <a:rPr lang="en-US" sz="2000" dirty="0"/>
              <a:t> percent confidence bounds.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baseline="30000" dirty="0"/>
          </a:p>
          <a:p>
            <a:r>
              <a:rPr lang="en-US" sz="2000" baseline="30000" dirty="0"/>
              <a:t> </a:t>
            </a:r>
            <a:endParaRPr lang="en-US" sz="2000" dirty="0"/>
          </a:p>
          <a:p>
            <a:br>
              <a:rPr lang="en-US" sz="2000" dirty="0"/>
            </a:b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A2AC5-A387-4883-BD81-83D6B5F64E7A}"/>
              </a:ext>
            </a:extLst>
          </p:cNvPr>
          <p:cNvSpPr txBox="1"/>
          <p:nvPr/>
        </p:nvSpPr>
        <p:spPr>
          <a:xfrm>
            <a:off x="6079084" y="510094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colors of points indicate the rainfall tercile outcomes for the eastern East Africa region, based on CHIRPS3 data and a 1991-2020 baseline.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27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79CF9-B7A0-471E-A429-1D87510F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467" y="26449"/>
            <a:ext cx="12192000" cy="760951"/>
          </a:xfrm>
        </p:spPr>
        <p:txBody>
          <a:bodyPr>
            <a:normAutofit/>
          </a:bodyPr>
          <a:lstStyle/>
          <a:p>
            <a:pPr algn="ctr"/>
            <a:r>
              <a:rPr lang="en-US" sz="24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Time series of Western Indian Ocean SST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69953D-EA33-4EA4-9C1F-399208839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9" y="755857"/>
            <a:ext cx="6994554" cy="60743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DBA889-F03D-44F9-BD45-7D68EF8C9E0F}"/>
              </a:ext>
            </a:extLst>
          </p:cNvPr>
          <p:cNvSpPr txBox="1"/>
          <p:nvPr/>
        </p:nvSpPr>
        <p:spPr>
          <a:xfrm>
            <a:off x="7027333" y="2505670"/>
            <a:ext cx="498898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This figure shows a time series of SST for the western IOD region (i.e. the western part of the IOD). </a:t>
            </a:r>
          </a:p>
          <a:p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imilar years of predicted very warm western Indian Ocean SST (1997, 2015, 2019, 2023).</a:t>
            </a:r>
          </a:p>
          <a:p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Expected western Indian Ocean SST values are expected to be 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very </a:t>
            </a:r>
            <a:r>
              <a:rPr lang="en-US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warm (&gt;29°C). This sets the stage for very extreme rainfall in eastern East Africa.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3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79CF9-B7A0-471E-A429-1D87510F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449"/>
            <a:ext cx="12192000" cy="760951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Observed OND IOD Time Series with 2026 Forecast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CD61E0-68B3-41C5-B454-D1751F4D3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2" y="745065"/>
            <a:ext cx="8483038" cy="60883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140253-A6FA-431B-881A-D069159D9769}"/>
              </a:ext>
            </a:extLst>
          </p:cNvPr>
          <p:cNvSpPr txBox="1"/>
          <p:nvPr/>
        </p:nvSpPr>
        <p:spPr>
          <a:xfrm>
            <a:off x="8627530" y="1261870"/>
            <a:ext cx="345441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This figure shows a forecast for a strong positive IOD, as also shown in the scatterplot slide. </a:t>
            </a:r>
          </a:p>
          <a:p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 comparison to the above, we can see which of the previously forecast strong positive IOD values involved especially warm western IOD SST (1997, 2015, 2019, 2023). </a:t>
            </a:r>
          </a:p>
          <a:p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Meaning enhanced opportunity for lots of rain, due to supporting moisture transports and warm SST enhancing atmospheric moisture and instability.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003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79CF9-B7A0-471E-A429-1D87510F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467" y="34908"/>
            <a:ext cx="12192000" cy="760951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Observed OND RONI Time Series with 2026 Forecast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E8CA1-7ED8-4247-BF59-F6302B0DD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3" y="797568"/>
            <a:ext cx="8395435" cy="60255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382D5E-79A7-4F0D-956B-5CCAB27B03AD}"/>
              </a:ext>
            </a:extLst>
          </p:cNvPr>
          <p:cNvSpPr txBox="1"/>
          <p:nvPr/>
        </p:nvSpPr>
        <p:spPr>
          <a:xfrm>
            <a:off x="8638128" y="2967335"/>
            <a:ext cx="34268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figure shows a forecast for a </a:t>
            </a:r>
            <a:r>
              <a:rPr lang="en-US" sz="2000" b="1" dirty="0"/>
              <a:t>strong</a:t>
            </a:r>
            <a:r>
              <a:rPr lang="en-US" sz="2000" dirty="0"/>
              <a:t> El Nino, as also shown in the scatterplot.</a:t>
            </a:r>
          </a:p>
          <a:p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5541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79CF9-B7A0-471E-A429-1D87510F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449"/>
            <a:ext cx="12192000" cy="760951"/>
          </a:xfrm>
        </p:spPr>
        <p:txBody>
          <a:bodyPr>
            <a:normAutofit/>
          </a:bodyPr>
          <a:lstStyle/>
          <a:p>
            <a:r>
              <a:rPr lang="en-US" sz="3200" dirty="0"/>
              <a:t>Comments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87104C-7994-4A23-92D1-45C871E7EA54}"/>
              </a:ext>
            </a:extLst>
          </p:cNvPr>
          <p:cNvSpPr txBox="1"/>
          <p:nvPr/>
        </p:nvSpPr>
        <p:spPr>
          <a:xfrm>
            <a:off x="2319867" y="540816"/>
            <a:ext cx="85365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the forecast values shown here, which are the ensemble mean forecast across 6 NMME models, I applied a quantile-matching bias correction (to the observed SST data). This helps adjust the forecast values a bit to reflect the relationship between past forecasts and observed values. The observed SST data is ERSSTv5. I've employed a 1991-2020 baseline for computations.</a:t>
            </a:r>
          </a:p>
          <a:p>
            <a:br>
              <a:rPr lang="en-US" dirty="0"/>
            </a:br>
            <a:r>
              <a:rPr lang="en-US" dirty="0"/>
              <a:t>It is pretty clear from these that for OND 2026 we are primarily anticipating a special case of strong El Nino and strong positive IOD, with especially warm western Indian Ocean SST. 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This analysis identified a small set of standout relevant years: 1997, 2015, 2019, 2023.</a:t>
            </a:r>
          </a:p>
          <a:p>
            <a:endParaRPr lang="en-US" dirty="0"/>
          </a:p>
          <a:p>
            <a:r>
              <a:rPr lang="en-US" dirty="0"/>
              <a:t>Other strong positive IOD or El Nino seasons could also be used as analogs.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869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486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Indian Ocean Dipole, Relative Oceanic Nino Index and Western Indian Ocean Outlook for OND </vt:lpstr>
      <vt:lpstr>October November December IOD and RONI Forecast Scatterplot</vt:lpstr>
      <vt:lpstr>Time series of Western Indian Ocean SST</vt:lpstr>
      <vt:lpstr>Observed OND IOD Time Series with 2026 Forecast</vt:lpstr>
      <vt:lpstr>Observed OND RONI Time Series with 2026 Forecast</vt:lpstr>
      <vt:lpstr>Comments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</dc:title>
  <dc:creator>Chris Funk</dc:creator>
  <cp:lastModifiedBy>Chris Funk</cp:lastModifiedBy>
  <cp:revision>22</cp:revision>
  <dcterms:created xsi:type="dcterms:W3CDTF">2026-06-15T08:39:29Z</dcterms:created>
  <dcterms:modified xsi:type="dcterms:W3CDTF">2026-07-06T17:29:02Z</dcterms:modified>
</cp:coreProperties>
</file>